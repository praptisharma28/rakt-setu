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11" Type="http://schemas.openxmlformats.org/officeDocument/2006/relationships/image" Target="../media/image24.jpeg"/><Relationship Id="rId5" Type="http://schemas.openxmlformats.org/officeDocument/2006/relationships/image" Target="../media/image13.svg"/><Relationship Id="rId10" Type="http://schemas.openxmlformats.org/officeDocument/2006/relationships/image" Target="../media/image23.png"/><Relationship Id="rId4" Type="http://schemas.openxmlformats.org/officeDocument/2006/relationships/image" Target="../media/image12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2.svg"/><Relationship Id="rId5" Type="http://schemas.openxmlformats.org/officeDocument/2006/relationships/image" Target="../media/image4.svg"/><Relationship Id="rId1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800000">
            <a:off x="-956603" y="-1087345"/>
            <a:ext cx="9716086" cy="3365477"/>
          </a:xfrm>
          <a:custGeom>
            <a:avLst/>
            <a:gdLst/>
            <a:ahLst/>
            <a:cxnLst/>
            <a:rect l="l" t="t" r="r" b="b"/>
            <a:pathLst>
              <a:path w="9716086" h="3365477">
                <a:moveTo>
                  <a:pt x="0" y="0"/>
                </a:moveTo>
                <a:lnTo>
                  <a:pt x="9716086" y="0"/>
                </a:lnTo>
                <a:lnTo>
                  <a:pt x="9716086" y="3365477"/>
                </a:lnTo>
                <a:lnTo>
                  <a:pt x="0" y="3365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-10800000" flipH="1">
            <a:off x="8730908" y="-1096870"/>
            <a:ext cx="9716086" cy="3365477"/>
          </a:xfrm>
          <a:custGeom>
            <a:avLst/>
            <a:gdLst/>
            <a:ahLst/>
            <a:cxnLst/>
            <a:rect l="l" t="t" r="r" b="b"/>
            <a:pathLst>
              <a:path w="9716086" h="3365477">
                <a:moveTo>
                  <a:pt x="9716086" y="0"/>
                </a:moveTo>
                <a:lnTo>
                  <a:pt x="0" y="0"/>
                </a:lnTo>
                <a:lnTo>
                  <a:pt x="0" y="3365477"/>
                </a:lnTo>
                <a:lnTo>
                  <a:pt x="9716086" y="3365477"/>
                </a:lnTo>
                <a:lnTo>
                  <a:pt x="97160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5400000">
            <a:off x="16990255" y="178777"/>
            <a:ext cx="1113692" cy="1113692"/>
          </a:xfrm>
          <a:custGeom>
            <a:avLst/>
            <a:gdLst/>
            <a:ahLst/>
            <a:cxnLst/>
            <a:rect l="l" t="t" r="r" b="b"/>
            <a:pathLst>
              <a:path w="1113692" h="1113692">
                <a:moveTo>
                  <a:pt x="0" y="0"/>
                </a:moveTo>
                <a:lnTo>
                  <a:pt x="1113693" y="0"/>
                </a:lnTo>
                <a:lnTo>
                  <a:pt x="1113693" y="1113692"/>
                </a:lnTo>
                <a:lnTo>
                  <a:pt x="0" y="111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10800000">
            <a:off x="181893" y="178777"/>
            <a:ext cx="1113692" cy="1113692"/>
          </a:xfrm>
          <a:custGeom>
            <a:avLst/>
            <a:gdLst/>
            <a:ahLst/>
            <a:cxnLst/>
            <a:rect l="l" t="t" r="r" b="b"/>
            <a:pathLst>
              <a:path w="1113692" h="1113692">
                <a:moveTo>
                  <a:pt x="0" y="0"/>
                </a:moveTo>
                <a:lnTo>
                  <a:pt x="1113692" y="0"/>
                </a:lnTo>
                <a:lnTo>
                  <a:pt x="1113692" y="1113692"/>
                </a:lnTo>
                <a:lnTo>
                  <a:pt x="0" y="111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4310707" y="2849029"/>
            <a:ext cx="1527434" cy="385677"/>
          </a:xfrm>
          <a:custGeom>
            <a:avLst/>
            <a:gdLst/>
            <a:ahLst/>
            <a:cxnLst/>
            <a:rect l="l" t="t" r="r" b="b"/>
            <a:pathLst>
              <a:path w="1527434" h="385677">
                <a:moveTo>
                  <a:pt x="0" y="0"/>
                </a:moveTo>
                <a:lnTo>
                  <a:pt x="1527433" y="0"/>
                </a:lnTo>
                <a:lnTo>
                  <a:pt x="1527433" y="385677"/>
                </a:lnTo>
                <a:lnTo>
                  <a:pt x="0" y="3856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3545258" y="2883863"/>
            <a:ext cx="10700957" cy="1973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89"/>
              </a:lnSpc>
            </a:pPr>
            <a:r>
              <a:rPr lang="en-US" sz="11564" b="1">
                <a:solidFill>
                  <a:srgbClr val="302C69"/>
                </a:solidFill>
                <a:latin typeface="Titillium Web Heavy"/>
                <a:ea typeface="Titillium Web Heavy"/>
                <a:cs typeface="Titillium Web Heavy"/>
                <a:sym typeface="Titillium Web Heavy"/>
              </a:rPr>
              <a:t>Rakt-Setu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061517" y="4757823"/>
            <a:ext cx="1527434" cy="385677"/>
          </a:xfrm>
          <a:custGeom>
            <a:avLst/>
            <a:gdLst/>
            <a:ahLst/>
            <a:cxnLst/>
            <a:rect l="l" t="t" r="r" b="b"/>
            <a:pathLst>
              <a:path w="1527434" h="385677">
                <a:moveTo>
                  <a:pt x="0" y="0"/>
                </a:moveTo>
                <a:lnTo>
                  <a:pt x="1527434" y="0"/>
                </a:lnTo>
                <a:lnTo>
                  <a:pt x="1527434" y="385677"/>
                </a:lnTo>
                <a:lnTo>
                  <a:pt x="0" y="3856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81893" y="970419"/>
            <a:ext cx="4128813" cy="3757220"/>
          </a:xfrm>
          <a:custGeom>
            <a:avLst/>
            <a:gdLst/>
            <a:ahLst/>
            <a:cxnLst/>
            <a:rect l="l" t="t" r="r" b="b"/>
            <a:pathLst>
              <a:path w="4128813" h="3757220">
                <a:moveTo>
                  <a:pt x="0" y="0"/>
                </a:moveTo>
                <a:lnTo>
                  <a:pt x="4128814" y="0"/>
                </a:lnTo>
                <a:lnTo>
                  <a:pt x="4128814" y="3757220"/>
                </a:lnTo>
                <a:lnTo>
                  <a:pt x="0" y="37572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6214539" y="6137634"/>
            <a:ext cx="5362393" cy="3960893"/>
          </a:xfrm>
          <a:custGeom>
            <a:avLst/>
            <a:gdLst/>
            <a:ahLst/>
            <a:cxnLst/>
            <a:rect l="l" t="t" r="r" b="b"/>
            <a:pathLst>
              <a:path w="5362393" h="3960893">
                <a:moveTo>
                  <a:pt x="0" y="0"/>
                </a:moveTo>
                <a:lnTo>
                  <a:pt x="5362394" y="0"/>
                </a:lnTo>
                <a:lnTo>
                  <a:pt x="5362394" y="3960893"/>
                </a:lnTo>
                <a:lnTo>
                  <a:pt x="0" y="39608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3909261" y="4950661"/>
            <a:ext cx="4019196" cy="4019196"/>
          </a:xfrm>
          <a:custGeom>
            <a:avLst/>
            <a:gdLst/>
            <a:ahLst/>
            <a:cxnLst/>
            <a:rect l="l" t="t" r="r" b="b"/>
            <a:pathLst>
              <a:path w="4019196" h="4019196">
                <a:moveTo>
                  <a:pt x="0" y="0"/>
                </a:moveTo>
                <a:lnTo>
                  <a:pt x="4019196" y="0"/>
                </a:lnTo>
                <a:lnTo>
                  <a:pt x="4019196" y="4019196"/>
                </a:lnTo>
                <a:lnTo>
                  <a:pt x="0" y="40191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4982493" y="5199864"/>
            <a:ext cx="7968615" cy="53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302C69"/>
                </a:solidFill>
                <a:latin typeface="Canva Sans"/>
                <a:ea typeface="Canva Sans"/>
                <a:cs typeface="Canva Sans"/>
                <a:sym typeface="Canva Sans"/>
              </a:rPr>
              <a:t>Connecting people, strengthening lives...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043447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1860000"/>
                </a:moveTo>
                <a:lnTo>
                  <a:pt x="5779663" y="1860000"/>
                </a:lnTo>
                <a:lnTo>
                  <a:pt x="5779663" y="0"/>
                </a:lnTo>
                <a:lnTo>
                  <a:pt x="0" y="0"/>
                </a:lnTo>
                <a:lnTo>
                  <a:pt x="0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13307944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3" y="1860000"/>
                </a:moveTo>
                <a:lnTo>
                  <a:pt x="0" y="1860000"/>
                </a:lnTo>
                <a:lnTo>
                  <a:pt x="0" y="0"/>
                </a:lnTo>
                <a:lnTo>
                  <a:pt x="5779663" y="0"/>
                </a:lnTo>
                <a:lnTo>
                  <a:pt x="5779663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90076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90076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697924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697924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491675" y="694515"/>
            <a:ext cx="12032166" cy="8473717"/>
          </a:xfrm>
          <a:custGeom>
            <a:avLst/>
            <a:gdLst/>
            <a:ahLst/>
            <a:cxnLst/>
            <a:rect l="l" t="t" r="r" b="b"/>
            <a:pathLst>
              <a:path w="12032166" h="8473717">
                <a:moveTo>
                  <a:pt x="0" y="0"/>
                </a:moveTo>
                <a:lnTo>
                  <a:pt x="12032166" y="0"/>
                </a:lnTo>
                <a:lnTo>
                  <a:pt x="12032166" y="8473717"/>
                </a:lnTo>
                <a:lnTo>
                  <a:pt x="0" y="84737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47029" y="3807720"/>
            <a:ext cx="3644646" cy="3644646"/>
          </a:xfrm>
          <a:custGeom>
            <a:avLst/>
            <a:gdLst/>
            <a:ahLst/>
            <a:cxnLst/>
            <a:rect l="l" t="t" r="r" b="b"/>
            <a:pathLst>
              <a:path w="3644646" h="3644646">
                <a:moveTo>
                  <a:pt x="0" y="0"/>
                </a:moveTo>
                <a:lnTo>
                  <a:pt x="3644646" y="0"/>
                </a:lnTo>
                <a:lnTo>
                  <a:pt x="3644646" y="3644646"/>
                </a:lnTo>
                <a:lnTo>
                  <a:pt x="0" y="36446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043447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1860000"/>
                </a:moveTo>
                <a:lnTo>
                  <a:pt x="5779663" y="1860000"/>
                </a:lnTo>
                <a:lnTo>
                  <a:pt x="5779663" y="0"/>
                </a:lnTo>
                <a:lnTo>
                  <a:pt x="0" y="0"/>
                </a:lnTo>
                <a:lnTo>
                  <a:pt x="0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13307944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3" y="1860000"/>
                </a:moveTo>
                <a:lnTo>
                  <a:pt x="0" y="1860000"/>
                </a:lnTo>
                <a:lnTo>
                  <a:pt x="0" y="0"/>
                </a:lnTo>
                <a:lnTo>
                  <a:pt x="5779663" y="0"/>
                </a:lnTo>
                <a:lnTo>
                  <a:pt x="5779663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590076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590076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697924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697924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4334500" y="858020"/>
            <a:ext cx="9290814" cy="1136326"/>
            <a:chOff x="0" y="0"/>
            <a:chExt cx="2446963" cy="29927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6963" cy="299279"/>
            </a:xfrm>
            <a:custGeom>
              <a:avLst/>
              <a:gdLst/>
              <a:ahLst/>
              <a:cxnLst/>
              <a:rect l="l" t="t" r="r" b="b"/>
              <a:pathLst>
                <a:path w="2446963" h="299279">
                  <a:moveTo>
                    <a:pt x="7500" y="0"/>
                  </a:moveTo>
                  <a:lnTo>
                    <a:pt x="2439464" y="0"/>
                  </a:lnTo>
                  <a:cubicBezTo>
                    <a:pt x="2441453" y="0"/>
                    <a:pt x="2443360" y="790"/>
                    <a:pt x="2444767" y="2197"/>
                  </a:cubicBezTo>
                  <a:cubicBezTo>
                    <a:pt x="2446173" y="3603"/>
                    <a:pt x="2446963" y="5511"/>
                    <a:pt x="2446963" y="7500"/>
                  </a:cubicBezTo>
                  <a:lnTo>
                    <a:pt x="2446963" y="291780"/>
                  </a:lnTo>
                  <a:cubicBezTo>
                    <a:pt x="2446963" y="293769"/>
                    <a:pt x="2446173" y="295676"/>
                    <a:pt x="2444767" y="297083"/>
                  </a:cubicBezTo>
                  <a:cubicBezTo>
                    <a:pt x="2443360" y="298489"/>
                    <a:pt x="2441453" y="299279"/>
                    <a:pt x="2439464" y="299279"/>
                  </a:cubicBezTo>
                  <a:lnTo>
                    <a:pt x="7500" y="299279"/>
                  </a:lnTo>
                  <a:cubicBezTo>
                    <a:pt x="5511" y="299279"/>
                    <a:pt x="3603" y="298489"/>
                    <a:pt x="2197" y="297083"/>
                  </a:cubicBezTo>
                  <a:cubicBezTo>
                    <a:pt x="790" y="295676"/>
                    <a:pt x="0" y="293769"/>
                    <a:pt x="0" y="291780"/>
                  </a:cubicBezTo>
                  <a:lnTo>
                    <a:pt x="0" y="7500"/>
                  </a:lnTo>
                  <a:cubicBezTo>
                    <a:pt x="0" y="5511"/>
                    <a:pt x="790" y="3603"/>
                    <a:pt x="2197" y="2197"/>
                  </a:cubicBezTo>
                  <a:cubicBezTo>
                    <a:pt x="3603" y="790"/>
                    <a:pt x="5511" y="0"/>
                    <a:pt x="7500" y="0"/>
                  </a:cubicBezTo>
                  <a:close/>
                </a:path>
              </a:pathLst>
            </a:custGeom>
            <a:solidFill>
              <a:srgbClr val="E5D9ED"/>
            </a:solidFill>
            <a:ln w="47625" cap="sq">
              <a:solidFill>
                <a:srgbClr val="756FB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446963" cy="385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909120" y="724670"/>
            <a:ext cx="8675327" cy="119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302C69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Project Abstract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4284" y="2908863"/>
            <a:ext cx="5022327" cy="5463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5"/>
              </a:lnSpc>
            </a:pPr>
            <a:r>
              <a:rPr lang="en-US" sz="4618" b="1">
                <a:solidFill>
                  <a:srgbClr val="302C69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Overview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This project aims to create a platform connecting blood donors and seekers, enabling location and blood-type searches, partnering with hospitals, and organizing donation drives for a stable supply.</a:t>
            </a:r>
          </a:p>
          <a:p>
            <a:pPr algn="l">
              <a:lnSpc>
                <a:spcPts val="4435"/>
              </a:lnSpc>
              <a:spcBef>
                <a:spcPct val="0"/>
              </a:spcBef>
            </a:pPr>
            <a:endParaRPr lang="en-US" sz="2799">
              <a:solidFill>
                <a:srgbClr val="302C69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377909" y="2908863"/>
            <a:ext cx="5203997" cy="6520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5"/>
              </a:lnSpc>
            </a:pPr>
            <a:r>
              <a:rPr lang="en-US" sz="4618" b="1">
                <a:solidFill>
                  <a:srgbClr val="302C69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Key Objectives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•Develop a platform that efficiently connects blood donors and seekers.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•Facilitate the search for blood by location and blood type.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•Collaborate with hospitals to streamline the donation process.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•Organize blood donation drives to ensure a steady blood supply.</a:t>
            </a:r>
          </a:p>
          <a:p>
            <a:pPr algn="l">
              <a:lnSpc>
                <a:spcPts val="4435"/>
              </a:lnSpc>
            </a:pPr>
            <a:endParaRPr lang="en-US" sz="2799">
              <a:solidFill>
                <a:srgbClr val="302C69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  <a:p>
            <a:pPr algn="l">
              <a:lnSpc>
                <a:spcPts val="4435"/>
              </a:lnSpc>
            </a:pPr>
            <a:endParaRPr lang="en-US" sz="2799">
              <a:solidFill>
                <a:srgbClr val="302C69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102065" y="2908863"/>
            <a:ext cx="5157235" cy="7016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5"/>
              </a:lnSpc>
            </a:pPr>
            <a:r>
              <a:rPr lang="en-US" sz="4618" b="1" dirty="0">
                <a:solidFill>
                  <a:srgbClr val="302C69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Approach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•Develop a web-app to connect blood donors and seekers.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•Creating separate database for donors and seekers.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•Collaborate with hospitals to facilitate blood donation and storage.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•Providing real time availability of blood and contact details.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.</a:t>
            </a:r>
          </a:p>
          <a:p>
            <a:pPr algn="l">
              <a:lnSpc>
                <a:spcPts val="4435"/>
              </a:lnSpc>
            </a:pPr>
            <a:endParaRPr lang="en-US" sz="2799" dirty="0">
              <a:solidFill>
                <a:srgbClr val="302C69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  <a:p>
            <a:pPr algn="l">
              <a:lnSpc>
                <a:spcPts val="4435"/>
              </a:lnSpc>
            </a:pPr>
            <a:endParaRPr lang="en-US" sz="2799" dirty="0">
              <a:solidFill>
                <a:srgbClr val="302C69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043447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1860000"/>
                </a:moveTo>
                <a:lnTo>
                  <a:pt x="5779663" y="1860000"/>
                </a:lnTo>
                <a:lnTo>
                  <a:pt x="5779663" y="0"/>
                </a:lnTo>
                <a:lnTo>
                  <a:pt x="0" y="0"/>
                </a:lnTo>
                <a:lnTo>
                  <a:pt x="0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13307944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3" y="1860000"/>
                </a:moveTo>
                <a:lnTo>
                  <a:pt x="0" y="1860000"/>
                </a:lnTo>
                <a:lnTo>
                  <a:pt x="0" y="0"/>
                </a:lnTo>
                <a:lnTo>
                  <a:pt x="5779663" y="0"/>
                </a:lnTo>
                <a:lnTo>
                  <a:pt x="5779663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590076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590076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697924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697924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4043918" y="748514"/>
            <a:ext cx="10200164" cy="1245831"/>
            <a:chOff x="0" y="0"/>
            <a:chExt cx="2686463" cy="3281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86463" cy="328120"/>
            </a:xfrm>
            <a:custGeom>
              <a:avLst/>
              <a:gdLst/>
              <a:ahLst/>
              <a:cxnLst/>
              <a:rect l="l" t="t" r="r" b="b"/>
              <a:pathLst>
                <a:path w="2686463" h="328120">
                  <a:moveTo>
                    <a:pt x="6831" y="0"/>
                  </a:moveTo>
                  <a:lnTo>
                    <a:pt x="2679632" y="0"/>
                  </a:lnTo>
                  <a:cubicBezTo>
                    <a:pt x="2681444" y="0"/>
                    <a:pt x="2683181" y="720"/>
                    <a:pt x="2684462" y="2001"/>
                  </a:cubicBezTo>
                  <a:cubicBezTo>
                    <a:pt x="2685743" y="3282"/>
                    <a:pt x="2686463" y="5019"/>
                    <a:pt x="2686463" y="6831"/>
                  </a:cubicBezTo>
                  <a:lnTo>
                    <a:pt x="2686463" y="321289"/>
                  </a:lnTo>
                  <a:cubicBezTo>
                    <a:pt x="2686463" y="323101"/>
                    <a:pt x="2685743" y="324838"/>
                    <a:pt x="2684462" y="326119"/>
                  </a:cubicBezTo>
                  <a:cubicBezTo>
                    <a:pt x="2683181" y="327400"/>
                    <a:pt x="2681444" y="328120"/>
                    <a:pt x="2679632" y="328120"/>
                  </a:cubicBezTo>
                  <a:lnTo>
                    <a:pt x="6831" y="328120"/>
                  </a:lnTo>
                  <a:cubicBezTo>
                    <a:pt x="3058" y="328120"/>
                    <a:pt x="0" y="325062"/>
                    <a:pt x="0" y="321289"/>
                  </a:cubicBezTo>
                  <a:lnTo>
                    <a:pt x="0" y="6831"/>
                  </a:lnTo>
                  <a:cubicBezTo>
                    <a:pt x="0" y="5019"/>
                    <a:pt x="720" y="3282"/>
                    <a:pt x="2001" y="2001"/>
                  </a:cubicBezTo>
                  <a:cubicBezTo>
                    <a:pt x="3282" y="720"/>
                    <a:pt x="5019" y="0"/>
                    <a:pt x="6831" y="0"/>
                  </a:cubicBezTo>
                  <a:close/>
                </a:path>
              </a:pathLst>
            </a:custGeom>
            <a:solidFill>
              <a:srgbClr val="E5D9ED"/>
            </a:solidFill>
            <a:ln w="47625" cap="sq">
              <a:solidFill>
                <a:srgbClr val="756FB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686463" cy="4138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029028" y="2203026"/>
            <a:ext cx="4419071" cy="2519667"/>
          </a:xfrm>
          <a:custGeom>
            <a:avLst/>
            <a:gdLst/>
            <a:ahLst/>
            <a:cxnLst/>
            <a:rect l="l" t="t" r="r" b="b"/>
            <a:pathLst>
              <a:path w="4419071" h="2519667">
                <a:moveTo>
                  <a:pt x="0" y="0"/>
                </a:moveTo>
                <a:lnTo>
                  <a:pt x="4419071" y="0"/>
                </a:lnTo>
                <a:lnTo>
                  <a:pt x="4419071" y="2519667"/>
                </a:lnTo>
                <a:lnTo>
                  <a:pt x="0" y="251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505" b="-250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2840229" y="5366982"/>
            <a:ext cx="4608887" cy="2860774"/>
          </a:xfrm>
          <a:custGeom>
            <a:avLst/>
            <a:gdLst/>
            <a:ahLst/>
            <a:cxnLst/>
            <a:rect l="l" t="t" r="r" b="b"/>
            <a:pathLst>
              <a:path w="4608887" h="2860774">
                <a:moveTo>
                  <a:pt x="0" y="0"/>
                </a:moveTo>
                <a:lnTo>
                  <a:pt x="4608888" y="0"/>
                </a:lnTo>
                <a:lnTo>
                  <a:pt x="4608888" y="2860774"/>
                </a:lnTo>
                <a:lnTo>
                  <a:pt x="0" y="28607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3795793" y="615164"/>
            <a:ext cx="10696414" cy="119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302C69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Our Goals and Objectives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302588"/>
            <a:ext cx="11811529" cy="676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302C69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1 - User Registration for Blood Donation and Request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Enable easy registration of users as blood donors or seekers, ensuring a streamlined 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onboarding experience.                     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302C69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2 - Location-Based Search for Blood Donors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Provide seekers with a quick, accurate donor search based on selected location and 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blood type.    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302C69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3 - Seamless Donor-Recipient Communication Access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Facilitate direct communication between seekers and donors, ensuring safe, reliable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contact information exchange. 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302C69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4 - Hospital Collaboration for Efficient Donation Processes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Partner with hospitals to organize, monitor, and improve donation and distribution 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channels for blood. 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302C69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5 - User-Friendly Interface and Data Security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Ensure intuitive navigation and robust data security to maintain privacy and user data 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02C69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     protection.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302C69"/>
              </a:solidFill>
              <a:latin typeface="Agrandir Narrow"/>
              <a:ea typeface="Agrandir Narrow"/>
              <a:cs typeface="Agrandir Narrow"/>
              <a:sym typeface="Agrandir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043447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1860000"/>
                </a:moveTo>
                <a:lnTo>
                  <a:pt x="5779663" y="1860000"/>
                </a:lnTo>
                <a:lnTo>
                  <a:pt x="5779663" y="0"/>
                </a:lnTo>
                <a:lnTo>
                  <a:pt x="0" y="0"/>
                </a:lnTo>
                <a:lnTo>
                  <a:pt x="0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13307944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3" y="1860000"/>
                </a:moveTo>
                <a:lnTo>
                  <a:pt x="0" y="1860000"/>
                </a:lnTo>
                <a:lnTo>
                  <a:pt x="0" y="0"/>
                </a:lnTo>
                <a:lnTo>
                  <a:pt x="5779663" y="0"/>
                </a:lnTo>
                <a:lnTo>
                  <a:pt x="5779663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590076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590076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697924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697924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4736216" y="549721"/>
            <a:ext cx="8292812" cy="1444624"/>
            <a:chOff x="0" y="0"/>
            <a:chExt cx="2184115" cy="3804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84115" cy="380477"/>
            </a:xfrm>
            <a:custGeom>
              <a:avLst/>
              <a:gdLst/>
              <a:ahLst/>
              <a:cxnLst/>
              <a:rect l="l" t="t" r="r" b="b"/>
              <a:pathLst>
                <a:path w="2184115" h="380477">
                  <a:moveTo>
                    <a:pt x="8402" y="0"/>
                  </a:moveTo>
                  <a:lnTo>
                    <a:pt x="2175713" y="0"/>
                  </a:lnTo>
                  <a:cubicBezTo>
                    <a:pt x="2177941" y="0"/>
                    <a:pt x="2180079" y="885"/>
                    <a:pt x="2181654" y="2461"/>
                  </a:cubicBezTo>
                  <a:cubicBezTo>
                    <a:pt x="2183230" y="4037"/>
                    <a:pt x="2184115" y="6174"/>
                    <a:pt x="2184115" y="8402"/>
                  </a:cubicBezTo>
                  <a:lnTo>
                    <a:pt x="2184115" y="372075"/>
                  </a:lnTo>
                  <a:cubicBezTo>
                    <a:pt x="2184115" y="376715"/>
                    <a:pt x="2180353" y="380477"/>
                    <a:pt x="2175713" y="380477"/>
                  </a:cubicBezTo>
                  <a:lnTo>
                    <a:pt x="8402" y="380477"/>
                  </a:lnTo>
                  <a:cubicBezTo>
                    <a:pt x="6174" y="380477"/>
                    <a:pt x="4037" y="379592"/>
                    <a:pt x="2461" y="378016"/>
                  </a:cubicBezTo>
                  <a:cubicBezTo>
                    <a:pt x="885" y="376441"/>
                    <a:pt x="0" y="374303"/>
                    <a:pt x="0" y="372075"/>
                  </a:cubicBezTo>
                  <a:lnTo>
                    <a:pt x="0" y="8402"/>
                  </a:lnTo>
                  <a:cubicBezTo>
                    <a:pt x="0" y="6174"/>
                    <a:pt x="885" y="4037"/>
                    <a:pt x="2461" y="2461"/>
                  </a:cubicBezTo>
                  <a:cubicBezTo>
                    <a:pt x="4037" y="885"/>
                    <a:pt x="6174" y="0"/>
                    <a:pt x="8402" y="0"/>
                  </a:cubicBezTo>
                  <a:close/>
                </a:path>
              </a:pathLst>
            </a:custGeom>
            <a:solidFill>
              <a:srgbClr val="E5D9ED"/>
            </a:solidFill>
            <a:ln w="47625" cap="sq">
              <a:solidFill>
                <a:srgbClr val="756FB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184115" cy="466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846385" y="2656294"/>
            <a:ext cx="14177908" cy="6817336"/>
          </a:xfrm>
          <a:custGeom>
            <a:avLst/>
            <a:gdLst/>
            <a:ahLst/>
            <a:cxnLst/>
            <a:rect l="l" t="t" r="r" b="b"/>
            <a:pathLst>
              <a:path w="14177908" h="6817336">
                <a:moveTo>
                  <a:pt x="0" y="0"/>
                </a:moveTo>
                <a:lnTo>
                  <a:pt x="14177908" y="0"/>
                </a:lnTo>
                <a:lnTo>
                  <a:pt x="14177908" y="6817336"/>
                </a:lnTo>
                <a:lnTo>
                  <a:pt x="0" y="6817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790" b="-279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4899285" y="368746"/>
            <a:ext cx="7812390" cy="155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1">
                <a:solidFill>
                  <a:srgbClr val="302C69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Methodology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4823" y="1884769"/>
            <a:ext cx="78955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i="1">
                <a:solidFill>
                  <a:srgbClr val="302C69"/>
                </a:solidFill>
                <a:latin typeface="Titillium Web Bold Italics"/>
                <a:ea typeface="Titillium Web Bold Italics"/>
                <a:cs typeface="Titillium Web Bold Italics"/>
                <a:sym typeface="Titillium Web Bold Italics"/>
              </a:rPr>
              <a:t>A. 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043447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1860000"/>
                </a:moveTo>
                <a:lnTo>
                  <a:pt x="5779663" y="1860000"/>
                </a:lnTo>
                <a:lnTo>
                  <a:pt x="5779663" y="0"/>
                </a:lnTo>
                <a:lnTo>
                  <a:pt x="0" y="0"/>
                </a:lnTo>
                <a:lnTo>
                  <a:pt x="0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13307944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3" y="1860000"/>
                </a:moveTo>
                <a:lnTo>
                  <a:pt x="0" y="1860000"/>
                </a:lnTo>
                <a:lnTo>
                  <a:pt x="0" y="0"/>
                </a:lnTo>
                <a:lnTo>
                  <a:pt x="5779663" y="0"/>
                </a:lnTo>
                <a:lnTo>
                  <a:pt x="5779663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590076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590076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697924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697924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4736216" y="549721"/>
            <a:ext cx="8292812" cy="1444624"/>
            <a:chOff x="0" y="0"/>
            <a:chExt cx="2184115" cy="3804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84115" cy="380477"/>
            </a:xfrm>
            <a:custGeom>
              <a:avLst/>
              <a:gdLst/>
              <a:ahLst/>
              <a:cxnLst/>
              <a:rect l="l" t="t" r="r" b="b"/>
              <a:pathLst>
                <a:path w="2184115" h="380477">
                  <a:moveTo>
                    <a:pt x="8402" y="0"/>
                  </a:moveTo>
                  <a:lnTo>
                    <a:pt x="2175713" y="0"/>
                  </a:lnTo>
                  <a:cubicBezTo>
                    <a:pt x="2177941" y="0"/>
                    <a:pt x="2180079" y="885"/>
                    <a:pt x="2181654" y="2461"/>
                  </a:cubicBezTo>
                  <a:cubicBezTo>
                    <a:pt x="2183230" y="4037"/>
                    <a:pt x="2184115" y="6174"/>
                    <a:pt x="2184115" y="8402"/>
                  </a:cubicBezTo>
                  <a:lnTo>
                    <a:pt x="2184115" y="372075"/>
                  </a:lnTo>
                  <a:cubicBezTo>
                    <a:pt x="2184115" y="376715"/>
                    <a:pt x="2180353" y="380477"/>
                    <a:pt x="2175713" y="380477"/>
                  </a:cubicBezTo>
                  <a:lnTo>
                    <a:pt x="8402" y="380477"/>
                  </a:lnTo>
                  <a:cubicBezTo>
                    <a:pt x="6174" y="380477"/>
                    <a:pt x="4037" y="379592"/>
                    <a:pt x="2461" y="378016"/>
                  </a:cubicBezTo>
                  <a:cubicBezTo>
                    <a:pt x="885" y="376441"/>
                    <a:pt x="0" y="374303"/>
                    <a:pt x="0" y="372075"/>
                  </a:cubicBezTo>
                  <a:lnTo>
                    <a:pt x="0" y="8402"/>
                  </a:lnTo>
                  <a:cubicBezTo>
                    <a:pt x="0" y="6174"/>
                    <a:pt x="885" y="4037"/>
                    <a:pt x="2461" y="2461"/>
                  </a:cubicBezTo>
                  <a:cubicBezTo>
                    <a:pt x="4037" y="885"/>
                    <a:pt x="6174" y="0"/>
                    <a:pt x="8402" y="0"/>
                  </a:cubicBezTo>
                  <a:close/>
                </a:path>
              </a:pathLst>
            </a:custGeom>
            <a:solidFill>
              <a:srgbClr val="E5D9ED"/>
            </a:solidFill>
            <a:ln w="47625" cap="sq">
              <a:solidFill>
                <a:srgbClr val="756FB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184115" cy="466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846385" y="6140642"/>
            <a:ext cx="4116803" cy="2439065"/>
          </a:xfrm>
          <a:custGeom>
            <a:avLst/>
            <a:gdLst/>
            <a:ahLst/>
            <a:cxnLst/>
            <a:rect l="l" t="t" r="r" b="b"/>
            <a:pathLst>
              <a:path w="4116803" h="2439065">
                <a:moveTo>
                  <a:pt x="0" y="0"/>
                </a:moveTo>
                <a:lnTo>
                  <a:pt x="4116803" y="0"/>
                </a:lnTo>
                <a:lnTo>
                  <a:pt x="4116803" y="2439065"/>
                </a:lnTo>
                <a:lnTo>
                  <a:pt x="0" y="24390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4899285" y="368746"/>
            <a:ext cx="7812390" cy="155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1">
                <a:solidFill>
                  <a:srgbClr val="302C69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Methodology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34823" y="2056619"/>
            <a:ext cx="78955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i="1">
                <a:solidFill>
                  <a:srgbClr val="302C69"/>
                </a:solidFill>
                <a:latin typeface="Titillium Web Bold Italics"/>
                <a:ea typeface="Titillium Web Bold Italics"/>
                <a:cs typeface="Titillium Web Bold Italics"/>
                <a:sym typeface="Titillium Web Bold Italics"/>
              </a:rPr>
              <a:t>B.  Technology</a:t>
            </a:r>
          </a:p>
        </p:txBody>
      </p:sp>
      <p:pic>
        <p:nvPicPr>
          <p:cNvPr id="2052" name="Picture 4" descr="React logo landscape transparent PNG - StickPNG">
            <a:extLst>
              <a:ext uri="{FF2B5EF4-FFF2-40B4-BE49-F238E27FC236}">
                <a16:creationId xmlns:a16="http://schemas.microsoft.com/office/drawing/2014/main" id="{9AF1F287-C634-DEFE-1A8F-EF8EB6934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239" y="3020569"/>
            <a:ext cx="3790949" cy="2122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ndrops' Node.js Development ...">
            <a:extLst>
              <a:ext uri="{FF2B5EF4-FFF2-40B4-BE49-F238E27FC236}">
                <a16:creationId xmlns:a16="http://schemas.microsoft.com/office/drawing/2014/main" id="{8BACF0E5-6095-E7A2-DB76-7D511B6B4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9503" y="2735141"/>
            <a:ext cx="2788702" cy="278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Live Instructor-Led JavaScript Training ...">
            <a:extLst>
              <a:ext uri="{FF2B5EF4-FFF2-40B4-BE49-F238E27FC236}">
                <a16:creationId xmlns:a16="http://schemas.microsoft.com/office/drawing/2014/main" id="{A0590300-0ADD-994C-492D-26D9B87BA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226699"/>
            <a:ext cx="200977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irst Quarter Fiscal 2026 Financial Results">
            <a:extLst>
              <a:ext uri="{FF2B5EF4-FFF2-40B4-BE49-F238E27FC236}">
                <a16:creationId xmlns:a16="http://schemas.microsoft.com/office/drawing/2014/main" id="{69533C58-00CE-7CFC-55E2-538DC75BF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352" y="3086100"/>
            <a:ext cx="4311377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ow to Insert Website Content With CSS ...">
            <a:extLst>
              <a:ext uri="{FF2B5EF4-FFF2-40B4-BE49-F238E27FC236}">
                <a16:creationId xmlns:a16="http://schemas.microsoft.com/office/drawing/2014/main" id="{881F3EC5-7828-FB31-2A15-88FAD3636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2405" y="6060153"/>
            <a:ext cx="3656893" cy="243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043447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1860000"/>
                </a:moveTo>
                <a:lnTo>
                  <a:pt x="5779663" y="1860000"/>
                </a:lnTo>
                <a:lnTo>
                  <a:pt x="5779663" y="0"/>
                </a:lnTo>
                <a:lnTo>
                  <a:pt x="0" y="0"/>
                </a:lnTo>
                <a:lnTo>
                  <a:pt x="0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13307944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3" y="1860000"/>
                </a:moveTo>
                <a:lnTo>
                  <a:pt x="0" y="1860000"/>
                </a:lnTo>
                <a:lnTo>
                  <a:pt x="0" y="0"/>
                </a:lnTo>
                <a:lnTo>
                  <a:pt x="5779663" y="0"/>
                </a:lnTo>
                <a:lnTo>
                  <a:pt x="5779663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590076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590076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697924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697924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597345" y="2741376"/>
            <a:ext cx="11710599" cy="6516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125" lvl="1" indent="-254562" algn="l">
              <a:lnSpc>
                <a:spcPts val="4315"/>
              </a:lnSpc>
              <a:buFont typeface="Arial"/>
              <a:buChar char="•"/>
            </a:pPr>
            <a:r>
              <a:rPr lang="en-US" sz="2358" b="1" dirty="0">
                <a:solidFill>
                  <a:srgbClr val="0121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Increased Availability and Timely Access to Blood Donations</a:t>
            </a:r>
          </a:p>
          <a:p>
            <a:pPr algn="l">
              <a:lnSpc>
                <a:spcPts val="3301"/>
              </a:lnSpc>
            </a:pPr>
            <a:r>
              <a:rPr lang="en-US" sz="2358" dirty="0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By facilitating quick connections between blood seekers and donors, the </a:t>
            </a:r>
          </a:p>
          <a:p>
            <a:pPr algn="l">
              <a:lnSpc>
                <a:spcPts val="3301"/>
              </a:lnSpc>
            </a:pPr>
            <a:r>
              <a:rPr lang="en-US" sz="2358" dirty="0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platform reduces delays in obtaining blood, improving patient outcomes and</a:t>
            </a:r>
          </a:p>
          <a:p>
            <a:pPr algn="l">
              <a:lnSpc>
                <a:spcPts val="3301"/>
              </a:lnSpc>
            </a:pPr>
            <a:r>
              <a:rPr lang="en-US" sz="2358" dirty="0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survival rates, especially during emergencies.</a:t>
            </a:r>
          </a:p>
          <a:p>
            <a:pPr marL="509125" lvl="1" indent="-254562" algn="l">
              <a:lnSpc>
                <a:spcPts val="4315"/>
              </a:lnSpc>
              <a:buFont typeface="Arial"/>
              <a:buChar char="•"/>
            </a:pPr>
            <a:r>
              <a:rPr lang="en-US" sz="2358" b="1" dirty="0">
                <a:solidFill>
                  <a:srgbClr val="0121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Strengthened Healthcare Collaboration and Efficiency</a:t>
            </a:r>
          </a:p>
          <a:p>
            <a:pPr algn="l">
              <a:lnSpc>
                <a:spcPts val="4315"/>
              </a:lnSpc>
            </a:pPr>
            <a:r>
              <a:rPr lang="en-US" sz="2358" dirty="0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Partnering with hospitals streamlines the blood donation and distribution   </a:t>
            </a:r>
          </a:p>
          <a:p>
            <a:pPr algn="l">
              <a:lnSpc>
                <a:spcPts val="4315"/>
              </a:lnSpc>
            </a:pPr>
            <a:r>
              <a:rPr lang="en-US" sz="2358" dirty="0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process, enhancing healthcare efficiency and strengthening the response to </a:t>
            </a:r>
          </a:p>
          <a:p>
            <a:pPr algn="l">
              <a:lnSpc>
                <a:spcPts val="4315"/>
              </a:lnSpc>
            </a:pPr>
            <a:r>
              <a:rPr lang="en-US" sz="2358" dirty="0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critical health situations in underserved areas.</a:t>
            </a:r>
          </a:p>
          <a:p>
            <a:pPr marL="509125" lvl="1" indent="-254562" algn="l">
              <a:lnSpc>
                <a:spcPts val="3301"/>
              </a:lnSpc>
              <a:buFont typeface="Arial"/>
              <a:buChar char="•"/>
            </a:pPr>
            <a:r>
              <a:rPr lang="en-US" sz="2358" b="1" dirty="0">
                <a:solidFill>
                  <a:srgbClr val="0121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Enhanced Community Awareness and Engagement in Blood Donation</a:t>
            </a:r>
          </a:p>
          <a:p>
            <a:pPr algn="l">
              <a:lnSpc>
                <a:spcPts val="4315"/>
              </a:lnSpc>
            </a:pPr>
            <a:r>
              <a:rPr lang="en-US" sz="2358" dirty="0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The platform encourages a culture of regular blood donation, raising awareness </a:t>
            </a:r>
          </a:p>
          <a:p>
            <a:pPr algn="l">
              <a:lnSpc>
                <a:spcPts val="4315"/>
              </a:lnSpc>
            </a:pPr>
            <a:r>
              <a:rPr lang="en-US" sz="2358" dirty="0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and building a resilient community committed to supporting public health   </a:t>
            </a:r>
          </a:p>
          <a:p>
            <a:pPr algn="l">
              <a:lnSpc>
                <a:spcPts val="4315"/>
              </a:lnSpc>
            </a:pPr>
            <a:r>
              <a:rPr lang="en-US" sz="2358" dirty="0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needs.</a:t>
            </a:r>
          </a:p>
          <a:p>
            <a:pPr algn="l">
              <a:lnSpc>
                <a:spcPts val="4315"/>
              </a:lnSpc>
            </a:pPr>
            <a:endParaRPr lang="en-US" sz="2358" dirty="0">
              <a:solidFill>
                <a:srgbClr val="0121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3527256" y="2969688"/>
            <a:ext cx="3738259" cy="2188097"/>
          </a:xfrm>
          <a:custGeom>
            <a:avLst/>
            <a:gdLst/>
            <a:ahLst/>
            <a:cxnLst/>
            <a:rect l="l" t="t" r="r" b="b"/>
            <a:pathLst>
              <a:path w="3738259" h="2188097">
                <a:moveTo>
                  <a:pt x="0" y="0"/>
                </a:moveTo>
                <a:lnTo>
                  <a:pt x="3738259" y="0"/>
                </a:lnTo>
                <a:lnTo>
                  <a:pt x="3738259" y="2188097"/>
                </a:lnTo>
                <a:lnTo>
                  <a:pt x="0" y="2188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022" b="-30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4043918" y="748514"/>
            <a:ext cx="10200164" cy="1813552"/>
            <a:chOff x="0" y="0"/>
            <a:chExt cx="2686463" cy="4776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86463" cy="477643"/>
            </a:xfrm>
            <a:custGeom>
              <a:avLst/>
              <a:gdLst/>
              <a:ahLst/>
              <a:cxnLst/>
              <a:rect l="l" t="t" r="r" b="b"/>
              <a:pathLst>
                <a:path w="2686463" h="477643">
                  <a:moveTo>
                    <a:pt x="6831" y="0"/>
                  </a:moveTo>
                  <a:lnTo>
                    <a:pt x="2679632" y="0"/>
                  </a:lnTo>
                  <a:cubicBezTo>
                    <a:pt x="2681444" y="0"/>
                    <a:pt x="2683181" y="720"/>
                    <a:pt x="2684462" y="2001"/>
                  </a:cubicBezTo>
                  <a:cubicBezTo>
                    <a:pt x="2685743" y="3282"/>
                    <a:pt x="2686463" y="5019"/>
                    <a:pt x="2686463" y="6831"/>
                  </a:cubicBezTo>
                  <a:lnTo>
                    <a:pt x="2686463" y="470812"/>
                  </a:lnTo>
                  <a:cubicBezTo>
                    <a:pt x="2686463" y="474585"/>
                    <a:pt x="2683405" y="477643"/>
                    <a:pt x="2679632" y="477643"/>
                  </a:cubicBezTo>
                  <a:lnTo>
                    <a:pt x="6831" y="477643"/>
                  </a:lnTo>
                  <a:cubicBezTo>
                    <a:pt x="5019" y="477643"/>
                    <a:pt x="3282" y="476924"/>
                    <a:pt x="2001" y="475643"/>
                  </a:cubicBezTo>
                  <a:cubicBezTo>
                    <a:pt x="720" y="474362"/>
                    <a:pt x="0" y="472624"/>
                    <a:pt x="0" y="470812"/>
                  </a:cubicBezTo>
                  <a:lnTo>
                    <a:pt x="0" y="6831"/>
                  </a:lnTo>
                  <a:cubicBezTo>
                    <a:pt x="0" y="5019"/>
                    <a:pt x="720" y="3282"/>
                    <a:pt x="2001" y="2001"/>
                  </a:cubicBezTo>
                  <a:cubicBezTo>
                    <a:pt x="3282" y="720"/>
                    <a:pt x="5019" y="0"/>
                    <a:pt x="6831" y="0"/>
                  </a:cubicBezTo>
                  <a:close/>
                </a:path>
              </a:pathLst>
            </a:custGeom>
            <a:solidFill>
              <a:srgbClr val="E5D9ED"/>
            </a:solidFill>
            <a:ln w="47625" cap="sq">
              <a:solidFill>
                <a:srgbClr val="756FB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686463" cy="563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527256" y="5724369"/>
            <a:ext cx="3951356" cy="2101919"/>
          </a:xfrm>
          <a:custGeom>
            <a:avLst/>
            <a:gdLst/>
            <a:ahLst/>
            <a:cxnLst/>
            <a:rect l="l" t="t" r="r" b="b"/>
            <a:pathLst>
              <a:path w="3951356" h="2101919">
                <a:moveTo>
                  <a:pt x="0" y="0"/>
                </a:moveTo>
                <a:lnTo>
                  <a:pt x="3951356" y="0"/>
                </a:lnTo>
                <a:lnTo>
                  <a:pt x="3951356" y="2101920"/>
                </a:lnTo>
                <a:lnTo>
                  <a:pt x="0" y="2101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4248320" y="653264"/>
            <a:ext cx="9791360" cy="1908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9"/>
              </a:lnSpc>
            </a:pPr>
            <a:r>
              <a:rPr lang="en-US" sz="5492" b="1">
                <a:solidFill>
                  <a:srgbClr val="302C69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Expected Outcomes and Impacts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043447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1860000"/>
                </a:moveTo>
                <a:lnTo>
                  <a:pt x="5779663" y="1860000"/>
                </a:lnTo>
                <a:lnTo>
                  <a:pt x="5779663" y="0"/>
                </a:lnTo>
                <a:lnTo>
                  <a:pt x="0" y="0"/>
                </a:lnTo>
                <a:lnTo>
                  <a:pt x="0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13307944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3" y="1860000"/>
                </a:moveTo>
                <a:lnTo>
                  <a:pt x="0" y="1860000"/>
                </a:lnTo>
                <a:lnTo>
                  <a:pt x="0" y="0"/>
                </a:lnTo>
                <a:lnTo>
                  <a:pt x="5779663" y="0"/>
                </a:lnTo>
                <a:lnTo>
                  <a:pt x="5779663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590076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590076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697924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697924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3804393" y="2266446"/>
            <a:ext cx="3034495" cy="1914836"/>
          </a:xfrm>
          <a:custGeom>
            <a:avLst/>
            <a:gdLst/>
            <a:ahLst/>
            <a:cxnLst/>
            <a:rect l="l" t="t" r="r" b="b"/>
            <a:pathLst>
              <a:path w="3034495" h="1914836">
                <a:moveTo>
                  <a:pt x="0" y="0"/>
                </a:moveTo>
                <a:lnTo>
                  <a:pt x="3034495" y="0"/>
                </a:lnTo>
                <a:lnTo>
                  <a:pt x="3034495" y="1914836"/>
                </a:lnTo>
                <a:lnTo>
                  <a:pt x="0" y="1914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811" b="-2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597345" y="2741376"/>
            <a:ext cx="11710599" cy="5926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125" lvl="1" indent="-254562" algn="l">
              <a:lnSpc>
                <a:spcPts val="4315"/>
              </a:lnSpc>
              <a:buFont typeface="Arial"/>
              <a:buChar char="•"/>
            </a:pPr>
            <a:r>
              <a:rPr lang="en-US" sz="2358" b="1">
                <a:solidFill>
                  <a:srgbClr val="0121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User-Friendly Platform for Blood Donor and Seeker Registration</a:t>
            </a:r>
          </a:p>
          <a:p>
            <a:pPr algn="l">
              <a:lnSpc>
                <a:spcPts val="4315"/>
              </a:lnSpc>
            </a:pPr>
            <a:r>
              <a:rPr lang="en-US" sz="23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 Enable easy registration for users to join as blood donors or seekers.</a:t>
            </a:r>
          </a:p>
          <a:p>
            <a:pPr marL="509125" lvl="1" indent="-254562" algn="l">
              <a:lnSpc>
                <a:spcPts val="4315"/>
              </a:lnSpc>
              <a:buFont typeface="Arial"/>
              <a:buChar char="•"/>
            </a:pPr>
            <a:r>
              <a:rPr lang="en-US" sz="2358" b="1">
                <a:solidFill>
                  <a:srgbClr val="0121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Location-Based Search Feature for Blood Donors</a:t>
            </a:r>
          </a:p>
          <a:p>
            <a:pPr algn="l">
              <a:lnSpc>
                <a:spcPts val="4315"/>
              </a:lnSpc>
            </a:pPr>
            <a:r>
              <a:rPr lang="en-US" sz="23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Provide seekers with access to donors in their chosen location for quick support.</a:t>
            </a:r>
          </a:p>
          <a:p>
            <a:pPr marL="509125" lvl="1" indent="-254562" algn="l">
              <a:lnSpc>
                <a:spcPts val="4315"/>
              </a:lnSpc>
              <a:buFont typeface="Arial"/>
              <a:buChar char="•"/>
            </a:pPr>
            <a:r>
              <a:rPr lang="en-US" sz="2358" b="1">
                <a:solidFill>
                  <a:srgbClr val="0121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Secure Contact Information Exchange for Donor-Recipient Communication</a:t>
            </a:r>
          </a:p>
          <a:p>
            <a:pPr algn="l">
              <a:lnSpc>
                <a:spcPts val="4315"/>
              </a:lnSpc>
            </a:pPr>
            <a:r>
              <a:rPr lang="en-US" sz="23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Ensure safe and reliable communication between donors and seekers for</a:t>
            </a:r>
          </a:p>
          <a:p>
            <a:pPr algn="l">
              <a:lnSpc>
                <a:spcPts val="4315"/>
              </a:lnSpc>
            </a:pPr>
            <a:r>
              <a:rPr lang="en-US" sz="23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streamlined coordination.</a:t>
            </a:r>
          </a:p>
          <a:p>
            <a:pPr marL="509125" lvl="1" indent="-254562" algn="l">
              <a:lnSpc>
                <a:spcPts val="4315"/>
              </a:lnSpc>
              <a:buFont typeface="Arial"/>
              <a:buChar char="•"/>
            </a:pPr>
            <a:r>
              <a:rPr lang="en-US" sz="2358" b="1">
                <a:solidFill>
                  <a:srgbClr val="0121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Collaborative Portal for Hospitals to Manage Blood Donation Efforts</a:t>
            </a:r>
          </a:p>
          <a:p>
            <a:pPr algn="l">
              <a:lnSpc>
                <a:spcPts val="4315"/>
              </a:lnSpc>
            </a:pPr>
            <a:r>
              <a:rPr lang="en-US" sz="23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Offer hospitals a dedicated portal to organize and track blood donations </a:t>
            </a:r>
          </a:p>
          <a:p>
            <a:pPr algn="l">
              <a:lnSpc>
                <a:spcPts val="4315"/>
              </a:lnSpc>
            </a:pPr>
            <a:r>
              <a:rPr lang="en-US" sz="23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efficiently.</a:t>
            </a:r>
          </a:p>
          <a:p>
            <a:pPr algn="l">
              <a:lnSpc>
                <a:spcPts val="4315"/>
              </a:lnSpc>
            </a:pPr>
            <a:endParaRPr lang="en-US" sz="2358">
              <a:solidFill>
                <a:srgbClr val="0121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043918" y="1028700"/>
            <a:ext cx="10200164" cy="1237746"/>
            <a:chOff x="0" y="0"/>
            <a:chExt cx="2686463" cy="3259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86463" cy="325991"/>
            </a:xfrm>
            <a:custGeom>
              <a:avLst/>
              <a:gdLst/>
              <a:ahLst/>
              <a:cxnLst/>
              <a:rect l="l" t="t" r="r" b="b"/>
              <a:pathLst>
                <a:path w="2686463" h="325991">
                  <a:moveTo>
                    <a:pt x="6831" y="0"/>
                  </a:moveTo>
                  <a:lnTo>
                    <a:pt x="2679632" y="0"/>
                  </a:lnTo>
                  <a:cubicBezTo>
                    <a:pt x="2681444" y="0"/>
                    <a:pt x="2683181" y="720"/>
                    <a:pt x="2684462" y="2001"/>
                  </a:cubicBezTo>
                  <a:cubicBezTo>
                    <a:pt x="2685743" y="3282"/>
                    <a:pt x="2686463" y="5019"/>
                    <a:pt x="2686463" y="6831"/>
                  </a:cubicBezTo>
                  <a:lnTo>
                    <a:pt x="2686463" y="319160"/>
                  </a:lnTo>
                  <a:cubicBezTo>
                    <a:pt x="2686463" y="320971"/>
                    <a:pt x="2685743" y="322709"/>
                    <a:pt x="2684462" y="323990"/>
                  </a:cubicBezTo>
                  <a:cubicBezTo>
                    <a:pt x="2683181" y="325271"/>
                    <a:pt x="2681444" y="325991"/>
                    <a:pt x="2679632" y="325991"/>
                  </a:cubicBezTo>
                  <a:lnTo>
                    <a:pt x="6831" y="325991"/>
                  </a:lnTo>
                  <a:cubicBezTo>
                    <a:pt x="3058" y="325991"/>
                    <a:pt x="0" y="322932"/>
                    <a:pt x="0" y="319160"/>
                  </a:cubicBezTo>
                  <a:lnTo>
                    <a:pt x="0" y="6831"/>
                  </a:lnTo>
                  <a:cubicBezTo>
                    <a:pt x="0" y="5019"/>
                    <a:pt x="720" y="3282"/>
                    <a:pt x="2001" y="2001"/>
                  </a:cubicBezTo>
                  <a:cubicBezTo>
                    <a:pt x="3282" y="720"/>
                    <a:pt x="5019" y="0"/>
                    <a:pt x="6831" y="0"/>
                  </a:cubicBezTo>
                  <a:close/>
                </a:path>
              </a:pathLst>
            </a:custGeom>
            <a:solidFill>
              <a:srgbClr val="E5D9ED"/>
            </a:solidFill>
            <a:ln w="47625" cap="sq">
              <a:solidFill>
                <a:srgbClr val="756FB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686463" cy="411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004287" y="4181282"/>
            <a:ext cx="2834601" cy="2019540"/>
          </a:xfrm>
          <a:custGeom>
            <a:avLst/>
            <a:gdLst/>
            <a:ahLst/>
            <a:cxnLst/>
            <a:rect l="l" t="t" r="r" b="b"/>
            <a:pathLst>
              <a:path w="2834601" h="2019540">
                <a:moveTo>
                  <a:pt x="0" y="0"/>
                </a:moveTo>
                <a:lnTo>
                  <a:pt x="2834601" y="0"/>
                </a:lnTo>
                <a:lnTo>
                  <a:pt x="2834601" y="2019540"/>
                </a:lnTo>
                <a:lnTo>
                  <a:pt x="0" y="2019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4039680" y="6422008"/>
            <a:ext cx="2799208" cy="2355010"/>
          </a:xfrm>
          <a:custGeom>
            <a:avLst/>
            <a:gdLst/>
            <a:ahLst/>
            <a:cxnLst/>
            <a:rect l="l" t="t" r="r" b="b"/>
            <a:pathLst>
              <a:path w="2799208" h="2355010">
                <a:moveTo>
                  <a:pt x="0" y="0"/>
                </a:moveTo>
                <a:lnTo>
                  <a:pt x="2799208" y="0"/>
                </a:lnTo>
                <a:lnTo>
                  <a:pt x="2799208" y="2355011"/>
                </a:lnTo>
                <a:lnTo>
                  <a:pt x="0" y="23550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430" b="-94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4248320" y="1033503"/>
            <a:ext cx="979136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302C69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Key Project Deliverables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-1043447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1860000"/>
                </a:moveTo>
                <a:lnTo>
                  <a:pt x="5779663" y="1860000"/>
                </a:lnTo>
                <a:lnTo>
                  <a:pt x="5779663" y="0"/>
                </a:lnTo>
                <a:lnTo>
                  <a:pt x="0" y="0"/>
                </a:lnTo>
                <a:lnTo>
                  <a:pt x="0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13307944" y="-686746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3" y="1860000"/>
                </a:moveTo>
                <a:lnTo>
                  <a:pt x="0" y="1860000"/>
                </a:lnTo>
                <a:lnTo>
                  <a:pt x="0" y="0"/>
                </a:lnTo>
                <a:lnTo>
                  <a:pt x="5779663" y="0"/>
                </a:lnTo>
                <a:lnTo>
                  <a:pt x="5779663" y="186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590076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590076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697924" y="1994345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9"/>
                </a:lnTo>
                <a:lnTo>
                  <a:pt x="0" y="293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697924" y="5147853"/>
            <a:ext cx="1180151" cy="2937029"/>
          </a:xfrm>
          <a:custGeom>
            <a:avLst/>
            <a:gdLst/>
            <a:ahLst/>
            <a:cxnLst/>
            <a:rect l="l" t="t" r="r" b="b"/>
            <a:pathLst>
              <a:path w="1180151" h="2937029">
                <a:moveTo>
                  <a:pt x="0" y="0"/>
                </a:moveTo>
                <a:lnTo>
                  <a:pt x="1180152" y="0"/>
                </a:lnTo>
                <a:lnTo>
                  <a:pt x="1180152" y="2937028"/>
                </a:lnTo>
                <a:lnTo>
                  <a:pt x="0" y="2937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4736216" y="581165"/>
            <a:ext cx="8292812" cy="1866900"/>
            <a:chOff x="0" y="0"/>
            <a:chExt cx="2184115" cy="4916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84115" cy="491694"/>
            </a:xfrm>
            <a:custGeom>
              <a:avLst/>
              <a:gdLst/>
              <a:ahLst/>
              <a:cxnLst/>
              <a:rect l="l" t="t" r="r" b="b"/>
              <a:pathLst>
                <a:path w="2184115" h="491694">
                  <a:moveTo>
                    <a:pt x="8402" y="0"/>
                  </a:moveTo>
                  <a:lnTo>
                    <a:pt x="2175713" y="0"/>
                  </a:lnTo>
                  <a:cubicBezTo>
                    <a:pt x="2177941" y="0"/>
                    <a:pt x="2180079" y="885"/>
                    <a:pt x="2181654" y="2461"/>
                  </a:cubicBezTo>
                  <a:cubicBezTo>
                    <a:pt x="2183230" y="4037"/>
                    <a:pt x="2184115" y="6174"/>
                    <a:pt x="2184115" y="8402"/>
                  </a:cubicBezTo>
                  <a:lnTo>
                    <a:pt x="2184115" y="483292"/>
                  </a:lnTo>
                  <a:cubicBezTo>
                    <a:pt x="2184115" y="487932"/>
                    <a:pt x="2180353" y="491694"/>
                    <a:pt x="2175713" y="491694"/>
                  </a:cubicBezTo>
                  <a:lnTo>
                    <a:pt x="8402" y="491694"/>
                  </a:lnTo>
                  <a:cubicBezTo>
                    <a:pt x="6174" y="491694"/>
                    <a:pt x="4037" y="490809"/>
                    <a:pt x="2461" y="489233"/>
                  </a:cubicBezTo>
                  <a:cubicBezTo>
                    <a:pt x="885" y="487657"/>
                    <a:pt x="0" y="485520"/>
                    <a:pt x="0" y="483292"/>
                  </a:cubicBezTo>
                  <a:lnTo>
                    <a:pt x="0" y="8402"/>
                  </a:lnTo>
                  <a:cubicBezTo>
                    <a:pt x="0" y="6174"/>
                    <a:pt x="885" y="4037"/>
                    <a:pt x="2461" y="2461"/>
                  </a:cubicBezTo>
                  <a:cubicBezTo>
                    <a:pt x="4037" y="885"/>
                    <a:pt x="6174" y="0"/>
                    <a:pt x="8402" y="0"/>
                  </a:cubicBezTo>
                  <a:close/>
                </a:path>
              </a:pathLst>
            </a:custGeom>
            <a:solidFill>
              <a:srgbClr val="E5D9ED"/>
            </a:solidFill>
            <a:ln w="47625" cap="sq">
              <a:solidFill>
                <a:srgbClr val="756FB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184115" cy="577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572412" y="3661671"/>
            <a:ext cx="11710599" cy="3701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3430" lvl="1" indent="-351715" algn="l">
              <a:lnSpc>
                <a:spcPts val="5962"/>
              </a:lnSpc>
              <a:buAutoNum type="arabicPeriod"/>
            </a:pPr>
            <a:r>
              <a:rPr lang="en-US" sz="3258" b="1" i="1">
                <a:solidFill>
                  <a:srgbClr val="012133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SHAURYA JAIN </a:t>
            </a:r>
            <a:r>
              <a:rPr lang="en-US" sz="32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(2200291530100)</a:t>
            </a:r>
          </a:p>
          <a:p>
            <a:pPr marL="703430" lvl="1" indent="-351715" algn="l">
              <a:lnSpc>
                <a:spcPts val="5962"/>
              </a:lnSpc>
              <a:buAutoNum type="arabicPeriod"/>
            </a:pPr>
            <a:r>
              <a:rPr lang="en-US" sz="32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58" b="1" i="1">
                <a:solidFill>
                  <a:srgbClr val="012133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PRAPTI SHARMA</a:t>
            </a:r>
            <a:r>
              <a:rPr lang="en-US" sz="32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(2200291530082)</a:t>
            </a:r>
          </a:p>
          <a:p>
            <a:pPr marL="703430" lvl="1" indent="-351715" algn="l">
              <a:lnSpc>
                <a:spcPts val="5962"/>
              </a:lnSpc>
              <a:buAutoNum type="arabicPeriod"/>
            </a:pPr>
            <a:r>
              <a:rPr lang="en-US" sz="32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58" b="1" i="1">
                <a:solidFill>
                  <a:srgbClr val="012133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AYUSH SRIVASTAVA                  </a:t>
            </a:r>
            <a:r>
              <a:rPr lang="en-US" sz="32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(2200291530034)</a:t>
            </a:r>
          </a:p>
          <a:p>
            <a:pPr marL="703430" lvl="1" indent="-351715" algn="l">
              <a:lnSpc>
                <a:spcPts val="5962"/>
              </a:lnSpc>
              <a:buAutoNum type="arabicPeriod"/>
            </a:pPr>
            <a:r>
              <a:rPr lang="en-US" sz="32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58" b="1" i="1">
                <a:solidFill>
                  <a:srgbClr val="012133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SHRIYANSH SRIVASTAVA</a:t>
            </a:r>
            <a:r>
              <a:rPr lang="en-US" sz="3258">
                <a:solidFill>
                  <a:srgbClr val="012133"/>
                </a:solidFill>
                <a:latin typeface="Open Sans"/>
                <a:ea typeface="Open Sans"/>
                <a:cs typeface="Open Sans"/>
                <a:sym typeface="Open Sans"/>
              </a:rPr>
              <a:t>          (2200291530108)</a:t>
            </a:r>
          </a:p>
          <a:p>
            <a:pPr algn="l">
              <a:lnSpc>
                <a:spcPts val="5962"/>
              </a:lnSpc>
            </a:pPr>
            <a:endParaRPr lang="en-US" sz="3258">
              <a:solidFill>
                <a:srgbClr val="0121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115885" y="400190"/>
            <a:ext cx="7812390" cy="170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90"/>
              </a:lnSpc>
            </a:pPr>
            <a:r>
              <a:rPr lang="en-US" sz="10064" b="1">
                <a:solidFill>
                  <a:srgbClr val="302C69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Our 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7169" y="8905973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0" y="0"/>
                </a:moveTo>
                <a:lnTo>
                  <a:pt x="5779662" y="0"/>
                </a:lnTo>
                <a:lnTo>
                  <a:pt x="5779662" y="1860000"/>
                </a:lnTo>
                <a:lnTo>
                  <a:pt x="0" y="18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3029028" y="8777019"/>
            <a:ext cx="5779662" cy="1860000"/>
          </a:xfrm>
          <a:custGeom>
            <a:avLst/>
            <a:gdLst/>
            <a:ahLst/>
            <a:cxnLst/>
            <a:rect l="l" t="t" r="r" b="b"/>
            <a:pathLst>
              <a:path w="5779662" h="1860000">
                <a:moveTo>
                  <a:pt x="5779662" y="0"/>
                </a:moveTo>
                <a:lnTo>
                  <a:pt x="0" y="0"/>
                </a:lnTo>
                <a:lnTo>
                  <a:pt x="0" y="1860000"/>
                </a:lnTo>
                <a:lnTo>
                  <a:pt x="5779662" y="1860000"/>
                </a:lnTo>
                <a:lnTo>
                  <a:pt x="5779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800000">
            <a:off x="-956603" y="-1087345"/>
            <a:ext cx="9716086" cy="3365477"/>
          </a:xfrm>
          <a:custGeom>
            <a:avLst/>
            <a:gdLst/>
            <a:ahLst/>
            <a:cxnLst/>
            <a:rect l="l" t="t" r="r" b="b"/>
            <a:pathLst>
              <a:path w="9716086" h="3365477">
                <a:moveTo>
                  <a:pt x="0" y="0"/>
                </a:moveTo>
                <a:lnTo>
                  <a:pt x="9716086" y="0"/>
                </a:lnTo>
                <a:lnTo>
                  <a:pt x="9716086" y="3365477"/>
                </a:lnTo>
                <a:lnTo>
                  <a:pt x="0" y="3365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-10800000" flipH="1">
            <a:off x="8730908" y="-1096870"/>
            <a:ext cx="9716086" cy="3365477"/>
          </a:xfrm>
          <a:custGeom>
            <a:avLst/>
            <a:gdLst/>
            <a:ahLst/>
            <a:cxnLst/>
            <a:rect l="l" t="t" r="r" b="b"/>
            <a:pathLst>
              <a:path w="9716086" h="3365477">
                <a:moveTo>
                  <a:pt x="9716086" y="0"/>
                </a:moveTo>
                <a:lnTo>
                  <a:pt x="0" y="0"/>
                </a:lnTo>
                <a:lnTo>
                  <a:pt x="0" y="3365477"/>
                </a:lnTo>
                <a:lnTo>
                  <a:pt x="9716086" y="3365477"/>
                </a:lnTo>
                <a:lnTo>
                  <a:pt x="97160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5400000">
            <a:off x="16990255" y="178777"/>
            <a:ext cx="1113692" cy="1113692"/>
          </a:xfrm>
          <a:custGeom>
            <a:avLst/>
            <a:gdLst/>
            <a:ahLst/>
            <a:cxnLst/>
            <a:rect l="l" t="t" r="r" b="b"/>
            <a:pathLst>
              <a:path w="1113692" h="1113692">
                <a:moveTo>
                  <a:pt x="0" y="0"/>
                </a:moveTo>
                <a:lnTo>
                  <a:pt x="1113693" y="0"/>
                </a:lnTo>
                <a:lnTo>
                  <a:pt x="1113693" y="1113692"/>
                </a:lnTo>
                <a:lnTo>
                  <a:pt x="0" y="111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10800000">
            <a:off x="181893" y="178777"/>
            <a:ext cx="1113692" cy="1113692"/>
          </a:xfrm>
          <a:custGeom>
            <a:avLst/>
            <a:gdLst/>
            <a:ahLst/>
            <a:cxnLst/>
            <a:rect l="l" t="t" r="r" b="b"/>
            <a:pathLst>
              <a:path w="1113692" h="1113692">
                <a:moveTo>
                  <a:pt x="0" y="0"/>
                </a:moveTo>
                <a:lnTo>
                  <a:pt x="1113692" y="0"/>
                </a:lnTo>
                <a:lnTo>
                  <a:pt x="1113692" y="1113692"/>
                </a:lnTo>
                <a:lnTo>
                  <a:pt x="0" y="111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3717933" y="3049848"/>
            <a:ext cx="9704604" cy="4605276"/>
          </a:xfrm>
          <a:custGeom>
            <a:avLst/>
            <a:gdLst/>
            <a:ahLst/>
            <a:cxnLst/>
            <a:rect l="l" t="t" r="r" b="b"/>
            <a:pathLst>
              <a:path w="9704604" h="4605276">
                <a:moveTo>
                  <a:pt x="0" y="0"/>
                </a:moveTo>
                <a:lnTo>
                  <a:pt x="9704604" y="0"/>
                </a:lnTo>
                <a:lnTo>
                  <a:pt x="9704604" y="4605275"/>
                </a:lnTo>
                <a:lnTo>
                  <a:pt x="0" y="46052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2561585" y="3412314"/>
            <a:ext cx="12017299" cy="358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95"/>
              </a:lnSpc>
            </a:pPr>
            <a:r>
              <a:rPr lang="en-US" sz="12425" b="1">
                <a:solidFill>
                  <a:srgbClr val="302C69"/>
                </a:solidFill>
                <a:latin typeface="Titillium Web Heavy"/>
                <a:ea typeface="Titillium Web Heavy"/>
                <a:cs typeface="Titillium Web Heavy"/>
                <a:sym typeface="Titillium Web Heavy"/>
              </a:rPr>
              <a:t>THANK</a:t>
            </a:r>
          </a:p>
          <a:p>
            <a:pPr algn="ctr">
              <a:lnSpc>
                <a:spcPts val="7120"/>
              </a:lnSpc>
            </a:pPr>
            <a:r>
              <a:rPr lang="en-US" sz="11302" b="1">
                <a:solidFill>
                  <a:srgbClr val="302C69"/>
                </a:solidFill>
                <a:latin typeface="Titillium Web Heavy"/>
                <a:ea typeface="Titillium Web Heavy"/>
                <a:cs typeface="Titillium Web Heavy"/>
                <a:sym typeface="Titillium Web Heavy"/>
              </a:rPr>
              <a:t>YOU</a:t>
            </a:r>
          </a:p>
        </p:txBody>
      </p:sp>
      <p:sp>
        <p:nvSpPr>
          <p:cNvPr id="10" name="Freeform 10"/>
          <p:cNvSpPr/>
          <p:nvPr/>
        </p:nvSpPr>
        <p:spPr>
          <a:xfrm rot="-1106864">
            <a:off x="9252893" y="6473071"/>
            <a:ext cx="3265485" cy="1042349"/>
          </a:xfrm>
          <a:custGeom>
            <a:avLst/>
            <a:gdLst/>
            <a:ahLst/>
            <a:cxnLst/>
            <a:rect l="l" t="t" r="r" b="b"/>
            <a:pathLst>
              <a:path w="3265485" h="1042349">
                <a:moveTo>
                  <a:pt x="0" y="0"/>
                </a:moveTo>
                <a:lnTo>
                  <a:pt x="3265485" y="0"/>
                </a:lnTo>
                <a:lnTo>
                  <a:pt x="3265485" y="1042349"/>
                </a:lnTo>
                <a:lnTo>
                  <a:pt x="0" y="10423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